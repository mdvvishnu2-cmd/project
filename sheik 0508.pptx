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5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6814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0" y="365760"/>
            <a:ext cx="2926080" cy="2926080"/>
          </a:xfrm>
          <a:prstGeom prst="ellipse">
            <a:avLst/>
          </a:prstGeom>
          <a:solidFill>
            <a:srgbClr val="1E40AF">
              <a:alpha val="20000"/>
            </a:srgbClr>
          </a:solidFill>
          <a:ln w="12700">
            <a:solidFill>
              <a:srgbClr val="1E40A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949440" y="897556"/>
            <a:ext cx="1828800" cy="1828800"/>
          </a:xfrm>
          <a:prstGeom prst="ellipse">
            <a:avLst/>
          </a:prstGeom>
          <a:solidFill>
            <a:srgbClr val="EAB308">
              <a:alpha val="25000"/>
            </a:srgbClr>
          </a:solidFill>
          <a:ln w="12700">
            <a:solidFill>
              <a:srgbClr val="EAB30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</a:rPr>
              <a:t>CIVITAS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ONLINE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1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SYSTEM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502920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Report | Bachelor of Computer Science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203047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Vishnu (222312554)  |  S. Sheik Muzzamil (222312550)  |  S. Akshat Chaturvedi (222312530)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568807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Asst. Prof. V. Saranya, M.Sc., M.Phil., Ph.D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713232"/>
          </a:xfrm>
          <a:prstGeom prst="rect">
            <a:avLst/>
          </a:prstGeom>
          <a:solidFill>
            <a:srgbClr val="1E40AF">
              <a:alpha val="30000"/>
            </a:srgbClr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4251960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|  T.J.S College of Arts and Science  |  April 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1887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118872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90195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190195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190195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&amp; Problems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90195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54880" y="1901952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54880" y="190195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190195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61518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2615184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261518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261518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261518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54880" y="2615184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0" y="261518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61518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332841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5760" y="3328416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65760" y="33284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332841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332841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754880" y="3328416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54880" y="33284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332841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(MVC)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4041648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65760" y="4041648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65760" y="404164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404164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54880" y="4041648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754880" y="4041648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754880" y="404164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03520" y="404164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2024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87168" y="1188720"/>
            <a:ext cx="192024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87168" y="1234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87168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08576" y="1188720"/>
            <a:ext cx="192024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08576" y="1234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08576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9984" y="1188720"/>
            <a:ext cx="192024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729984" y="1234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29984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84124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2377440"/>
            <a:ext cx="80467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IN" sz="12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secure, web-based college election platform built with Python Flask, MySQL, HTML5, CSS3, JavaScript, and Chart.js. It replaces paper-based elections with a fully digital system accessible from any internet-enabled device.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Auto-generated unique Voter IDs in VTR-XXXXXXXX format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Chart.js bar charts on admin dashboard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One-vote-per-student enforcement at application AND database levels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SHA-256 password hashing &amp; session-based access control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Candidate TOGGLE functionality (active/inactive)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Professional dark-navy CIVITAS branding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&amp; PROBLEMS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023360" cy="347472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75488" y="12710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Attendance Required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6184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must visit polling booths — those absent on election day are completely excluded from voting.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023360" cy="347472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64608" y="12710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Resource Intensive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64608" y="16184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printing ballots, staffing booths, and hours of manual counting by committee members.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4023360" cy="347472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5488" y="25054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 Manual Counting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285292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Miscounts and spoiled ballots affect accuracy; no double-check mechanism available.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0" y="2468880"/>
            <a:ext cx="4023360" cy="347472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64608" y="25054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Monitoring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285292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only available after complete counting — zero transparency during the election process.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4023360" cy="347472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" y="37398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Vulnerability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" y="40873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ballots vulnerable to tampering, damage, or destruction before counting is complete.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54880" y="3703320"/>
            <a:ext cx="4023360" cy="347472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64608" y="37398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64608" y="40873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paper printing and disposal contributes to unnecessary environmental degradation.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25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023360" cy="347472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75488" y="12710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Digital Platform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6184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any internet-enabled device — no physical presence required for casting votes.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023360" cy="347472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64608" y="12710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Number Authentication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64608" y="16184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log in using college register number with SHA-256 password hashing for security.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4023360" cy="347472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5488" y="25054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Voter IDs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285292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VTR-XXXXXXXX format Voter ID automatically issued upon successful student registration.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0" y="2468880"/>
            <a:ext cx="4023360" cy="347472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64608" y="25054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One-Vote Enforcement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285292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database constraint + application-level logic ensures each student can vote only once.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4023360" cy="347472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" y="37398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Admin Dashboard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" y="40873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vote distribution bar charts via Chart.js; admin sees standings as votes are cast.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54880" y="3703320"/>
            <a:ext cx="4023360" cy="347472"/>
          </a:xfrm>
          <a:prstGeom prst="rect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64608" y="37398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Management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64608" y="40873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add, edit, delete, and toggle candidates active/inactive during the election.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02336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840480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82880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 / 11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13432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231343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31343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 &amp; Flask 2.0+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98064"/>
            <a:ext cx="3840480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" y="279806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279806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82696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328269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328269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67328"/>
            <a:ext cx="3840480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2920" y="37673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37673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Firefox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2920" y="425196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425196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PyCharm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12344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7" name="Shape 25"/>
          <p:cNvSpPr/>
          <p:nvPr/>
        </p:nvSpPr>
        <p:spPr>
          <a:xfrm>
            <a:off x="4754880" y="1234440"/>
            <a:ext cx="4023360" cy="4572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46320" y="125272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1828800"/>
            <a:ext cx="3840480" cy="402336"/>
          </a:xfrm>
          <a:prstGeom prst="rect">
            <a:avLst/>
          </a:prstGeom>
          <a:solidFill>
            <a:srgbClr val="FEF9C3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92040" y="182880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182880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i3 (2.0 GHz+)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2313432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92040" y="231343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231343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4 GB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2798064"/>
            <a:ext cx="3840480" cy="402336"/>
          </a:xfrm>
          <a:prstGeom prst="rect">
            <a:avLst/>
          </a:prstGeom>
          <a:solidFill>
            <a:srgbClr val="FEF9C3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92040" y="279806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279806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 free space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3282696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892040" y="328269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328269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1280×720 resolution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46320" y="3767328"/>
            <a:ext cx="3840480" cy="402336"/>
          </a:xfrm>
          <a:prstGeom prst="rect">
            <a:avLst/>
          </a:prstGeom>
          <a:solidFill>
            <a:srgbClr val="FEF9C3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2" name="Text 40"/>
          <p:cNvSpPr/>
          <p:nvPr/>
        </p:nvSpPr>
        <p:spPr>
          <a:xfrm>
            <a:off x="4892040" y="37673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9360" y="37673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Mbps+ internet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46320" y="4251960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892040" y="425196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09360" y="425196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&amp; Mouse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38912" y="1325880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891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6112" y="12893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156362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details; SHA-256 hashed password; auto-generate unique VTR-XXXXXXXX Voter ID.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28032" y="1325880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2803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85232" y="12893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Login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85232" y="156362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with register number; create session; redirect to personalized dashboard.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1984248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38912" y="2075688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38912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6112" y="20391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6112" y="231343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voter profile, election schedule, active candidates, and voting status dynamically.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984248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28032" y="2075688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28032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85232" y="20391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Module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85232" y="231343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one vote securely; atomic transaction; UNIQUE DB constraint prevents double-voting.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734056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38912" y="2825496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38912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96112" y="2788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Authentication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6112" y="306324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 with predefined credentials; create admin session for full system access.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734056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28032" y="2825496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828032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85232" y="2788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85232" y="306324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stats: total voters, votes cast, active candidates + Chart.js bar chart visualization.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483864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38912" y="3575304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38912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96112" y="35387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Management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96112" y="381304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candidates; toggle active/inactive status; upload candidate photo.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3483864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828032" y="3575304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28032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85232" y="35387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Management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85232" y="381304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election title, description, start/end dates; auto-control voting availability.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4233672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38912" y="4325112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38912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96112" y="42885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Module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96112" y="456285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ACID compliance; UNIQUE constraints; Foreign keys; secure data storage &amp; retrieval.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54880" y="4233672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828032" y="4325112"/>
            <a:ext cx="384048" cy="38404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828032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85232" y="42885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Module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85232" y="456285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responsive bar charts; vote data passed as JSON from Flask backend.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920240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Language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87168" y="128016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87168" y="1280160"/>
            <a:ext cx="1920240" cy="6583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87168" y="13716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87168" y="202996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08576" y="128016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08576" y="1280160"/>
            <a:ext cx="192024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08576" y="13716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08576" y="202996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9984" y="128016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729984" y="1280160"/>
            <a:ext cx="1920240" cy="658368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729984" y="13716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9984" y="202996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Markup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9718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2971800"/>
            <a:ext cx="1920240" cy="658368"/>
          </a:xfrm>
          <a:prstGeom prst="rect">
            <a:avLst/>
          </a:prstGeom>
          <a:solidFill>
            <a:srgbClr val="854D0E"/>
          </a:solidFill>
          <a:ln w="12700">
            <a:solidFill>
              <a:srgbClr val="854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65760" y="30632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72160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Logic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87168" y="29718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87168" y="2971800"/>
            <a:ext cx="1920240" cy="65836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487168" y="30632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87168" y="372160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08576" y="29718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608576" y="2971800"/>
            <a:ext cx="192024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608576" y="30632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08576" y="372160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29984" y="29718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729984" y="2971800"/>
            <a:ext cx="1920240" cy="658368"/>
          </a:xfrm>
          <a:prstGeom prst="rect">
            <a:avLst/>
          </a:prstGeom>
          <a:solidFill>
            <a:srgbClr val="065A60"/>
          </a:solidFill>
          <a:ln w="12700">
            <a:solidFill>
              <a:srgbClr val="065A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729984" y="30632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29984" y="372160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Engine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— MVC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914400"/>
          </a:xfrm>
          <a:prstGeom prst="rect">
            <a:avLst/>
          </a:prstGeom>
          <a:solidFill>
            <a:srgbClr val="1E40AF">
              <a:alpha val="88000"/>
            </a:srgbClr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9728" cy="914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60120" y="13075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26080" y="1307592"/>
            <a:ext cx="5303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Tables + Python Data Access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| candidates | votes | admin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548640" cy="18288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31520" y="2359152"/>
            <a:ext cx="7680960" cy="914400"/>
          </a:xfrm>
          <a:prstGeom prst="rect">
            <a:avLst/>
          </a:prstGeom>
          <a:solidFill>
            <a:srgbClr val="16A34A">
              <a:alpha val="88000"/>
            </a:srgbClr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1520" y="2359152"/>
            <a:ext cx="10972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60120" y="24323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26080" y="2432304"/>
            <a:ext cx="5303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Jinja2 HTML Templates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Dark-Navy CIVITAS CSS Theme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3319272"/>
            <a:ext cx="548640" cy="18288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31520" y="3483864"/>
            <a:ext cx="7680960" cy="914400"/>
          </a:xfrm>
          <a:prstGeom prst="rect">
            <a:avLst/>
          </a:prstGeom>
          <a:solidFill>
            <a:srgbClr val="4338CA">
              <a:alpha val="88000"/>
            </a:srgbClr>
          </a:solidFill>
          <a:ln w="12700">
            <a:solidFill>
              <a:srgbClr val="4338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1520" y="3483864"/>
            <a:ext cx="109728" cy="9144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60120" y="355701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26080" y="3557016"/>
            <a:ext cx="5303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Route Handlers in app.py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@app.route() decorators — HTTP request processing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03120" y="4325112"/>
            <a:ext cx="1828800" cy="59436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103120" y="432511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Student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Module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60720" y="4325112"/>
            <a:ext cx="1828800" cy="59436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760720" y="432511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Module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023360" cy="347472"/>
          </a:xfrm>
          <a:prstGeom prst="rect">
            <a:avLst/>
          </a:prstGeom>
          <a:solidFill>
            <a:srgbClr val="1E40AF">
              <a:alpha val="90000"/>
            </a:srgbClr>
          </a:solidFill>
          <a:ln w="12700">
            <a:solidFill>
              <a:srgbClr val="1E40A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75488" y="12710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Integration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" y="16184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blockchain for immutable, cryptographically verifiable vote records.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023360" cy="347472"/>
          </a:xfrm>
          <a:prstGeom prst="rect">
            <a:avLst/>
          </a:prstGeom>
          <a:solidFill>
            <a:srgbClr val="1E40AF">
              <a:alpha val="90000"/>
            </a:srgbClr>
          </a:solidFill>
          <a:ln w="12700">
            <a:solidFill>
              <a:srgbClr val="1E40A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64608" y="12710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64608" y="16184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native iOS and Android apps for easier mobile access and notifications.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4023360" cy="347472"/>
          </a:xfrm>
          <a:prstGeom prst="rect">
            <a:avLst/>
          </a:prstGeom>
          <a:solidFill>
            <a:srgbClr val="1E40AF">
              <a:alpha val="90000"/>
            </a:srgbClr>
          </a:solidFill>
          <a:ln w="12700">
            <a:solidFill>
              <a:srgbClr val="1E40A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5488" y="25054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OTP-Based Authentication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" y="285292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two-factor authentication with OTP via email/SMS for stronger security.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0" y="2468880"/>
            <a:ext cx="4023360" cy="347472"/>
          </a:xfrm>
          <a:prstGeom prst="rect">
            <a:avLst/>
          </a:prstGeom>
          <a:solidFill>
            <a:srgbClr val="1E40AF">
              <a:alpha val="90000"/>
            </a:srgbClr>
          </a:solidFill>
          <a:ln w="12700">
            <a:solidFill>
              <a:srgbClr val="1E40A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64608" y="25054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Multi-Election Support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64608" y="285292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simultaneous management of multiple elections in a single platform.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4023360" cy="347472"/>
          </a:xfrm>
          <a:prstGeom prst="rect">
            <a:avLst/>
          </a:prstGeom>
          <a:solidFill>
            <a:srgbClr val="1E40AF">
              <a:alpha val="90000"/>
            </a:srgbClr>
          </a:solidFill>
          <a:ln w="12700">
            <a:solidFill>
              <a:srgbClr val="1E40A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" y="37398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" y="40873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detailed PDF/Excel reports of election results and voter statistics.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54880" y="3703320"/>
            <a:ext cx="4023360" cy="347472"/>
          </a:xfrm>
          <a:prstGeom prst="rect">
            <a:avLst/>
          </a:prstGeom>
          <a:solidFill>
            <a:srgbClr val="1E40AF">
              <a:alpha val="90000"/>
            </a:srgbClr>
          </a:solidFill>
          <a:ln w="12700">
            <a:solidFill>
              <a:srgbClr val="1E40A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64608" y="37398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Verification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64608" y="40873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face recognition or fingerprint scan for voter identity verification.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4114800" cy="457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8321040" cy="1920240"/>
          </a:xfrm>
          <a:prstGeom prst="rect">
            <a:avLst/>
          </a:prstGeom>
          <a:solidFill>
            <a:srgbClr val="1E40AF">
              <a:alpha val="18000"/>
            </a:srgbClr>
          </a:solidFill>
          <a:ln w="12700">
            <a:solidFill>
              <a:srgbClr val="1E40A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280160"/>
            <a:ext cx="7955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successfully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 modern, secure, and accessible digital election platform for college institutions. By replacing inefficient paper-based voting with a Flask + MySQL web application, it ensures real-time transparency, strong security, and high voter participation — validated with 76.9% turnout and all 22 test cases passing.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production-ready and deployable for any college election scenario.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73152" cy="34747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SHA-256 authentication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73152" cy="34747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One-vote-per-student enforced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3291840"/>
            <a:ext cx="73152" cy="34747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0" y="3291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Chart.js visualization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3794760"/>
            <a:ext cx="73152" cy="34747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0" y="37947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clean architecture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1E40AF">
              <a:alpha val="18000"/>
            </a:srgbClr>
          </a:solidFill>
          <a:ln w="12700">
            <a:solidFill>
              <a:srgbClr val="1E40A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583680" y="2011680"/>
            <a:ext cx="3657600" cy="3657600"/>
          </a:xfrm>
          <a:prstGeom prst="ellipse">
            <a:avLst/>
          </a:prstGeom>
          <a:solidFill>
            <a:srgbClr val="EAB308">
              <a:alpha val="12000"/>
            </a:srgbClr>
          </a:solidFill>
          <a:ln w="12700">
            <a:solidFill>
              <a:srgbClr val="EAB30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743200" y="2834640"/>
            <a:ext cx="3657600" cy="640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Online Voting System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|  T.J.S College of Arts and Science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Vishnu (222312554)  |  S. Sheik Muzzamil (222312550)  |  S. Akshat Chaturvedi (222312530)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987</Words>
  <Application>Microsoft Office PowerPoint</Application>
  <PresentationFormat>On-screen Show (16:9)</PresentationFormat>
  <Paragraphs>202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CIVITAS College Online Voting System</dc:title>
  <dc:subject>PptxGenJS Presentation</dc:subject>
  <dc:creator>PptxGenJS</dc:creator>
  <cp:lastModifiedBy>S0509809</cp:lastModifiedBy>
  <cp:revision>7</cp:revision>
  <dcterms:created xsi:type="dcterms:W3CDTF">2026-03-31T05:37:10Z</dcterms:created>
  <dcterms:modified xsi:type="dcterms:W3CDTF">2026-04-02T03:39:51Z</dcterms:modified>
</cp:coreProperties>
</file>